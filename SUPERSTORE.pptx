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GB" altLang="en-US"/>
              <a:t>SUPERSTORE</a:t>
            </a:r>
            <a:endParaRPr lang="en-GB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GB" altLang="en-US"/>
              <a:t>BY: MAJENGBASAN GLORY</a:t>
            </a:r>
            <a:endParaRPr lang="en-GB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8360" y="365125"/>
            <a:ext cx="10515600" cy="1325563"/>
          </a:xfrm>
        </p:spPr>
        <p:txBody>
          <a:bodyPr/>
          <a:p>
            <a:r>
              <a:rPr lang="en-GB" altLang="en-US"/>
              <a:t>ABOUT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GB" altLang="en-US"/>
              <a:t>Superstore Giant is seeking knowlege in understanding what works best for them.</a:t>
            </a:r>
            <a:endParaRPr lang="en-GB" altLang="en-US"/>
          </a:p>
          <a:p>
            <a:pPr marL="0" indent="0">
              <a:buNone/>
            </a:pPr>
            <a:r>
              <a:rPr lang="en-GB" altLang="en-US"/>
              <a:t>They want to understand and know the product, regions, categories and customer segments they should target for more sales.</a:t>
            </a:r>
            <a:endParaRPr lang="en-GB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/>
              <a:t>ANALYSIS 1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GB" altLang="en-US"/>
              <a:t>OBJECTIVE</a:t>
            </a:r>
            <a:endParaRPr lang="en-GB" altLang="en-US"/>
          </a:p>
          <a:p>
            <a:pPr marL="0" indent="0">
              <a:buNone/>
            </a:pPr>
            <a:r>
              <a:rPr lang="en-GB" altLang="en-US"/>
              <a:t>What is the Total Sales</a:t>
            </a:r>
            <a:endParaRPr lang="en-GB" altLang="en-US"/>
          </a:p>
          <a:p>
            <a:pPr marL="0" indent="0">
              <a:buNone/>
            </a:pPr>
            <a:endParaRPr lang="en-GB" altLang="en-US"/>
          </a:p>
          <a:p>
            <a:pPr marL="0" indent="0">
              <a:buNone/>
            </a:pPr>
            <a:r>
              <a:rPr lang="en-GB" altLang="en-US"/>
              <a:t>ANSWER</a:t>
            </a:r>
            <a:endParaRPr lang="en-GB" altLang="en-US"/>
          </a:p>
          <a:p>
            <a:pPr marL="0" indent="0">
              <a:buNone/>
            </a:pPr>
            <a:r>
              <a:rPr lang="en-GB" altLang="en-US"/>
              <a:t>From the year 2014-2017, the total sales in superstore has been about $2.3 M, about 9.99K records were made with an average of $229.9 in sales.</a:t>
            </a:r>
            <a:endParaRPr lang="en-GB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/>
              <a:t>ANALYSIS 2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0335"/>
            <a:ext cx="10515600" cy="5139055"/>
          </a:xfrm>
        </p:spPr>
        <p:txBody>
          <a:bodyPr>
            <a:normAutofit fontScale="70000"/>
          </a:bodyPr>
          <a:p>
            <a:pPr marL="0" indent="0">
              <a:buNone/>
            </a:pPr>
            <a:r>
              <a:rPr lang="en-GB" altLang="en-US" sz="3430"/>
              <a:t>OBJECTIVE</a:t>
            </a:r>
            <a:endParaRPr lang="en-GB" altLang="en-US" sz="3430"/>
          </a:p>
          <a:p>
            <a:pPr marL="0" indent="0">
              <a:buNone/>
            </a:pPr>
            <a:r>
              <a:rPr lang="en-GB" altLang="en-US"/>
              <a:t>Top 5 Products by Sales</a:t>
            </a:r>
            <a:endParaRPr lang="en-GB" altLang="en-US"/>
          </a:p>
          <a:p>
            <a:pPr marL="0" indent="0">
              <a:buNone/>
            </a:pPr>
            <a:endParaRPr lang="en-GB" altLang="en-US"/>
          </a:p>
          <a:p>
            <a:pPr marL="0" indent="0">
              <a:buNone/>
            </a:pPr>
            <a:r>
              <a:rPr lang="en-GB" altLang="en-US" sz="3430"/>
              <a:t>ANSWER</a:t>
            </a:r>
            <a:endParaRPr lang="en-GB" altLang="en-US" sz="3430"/>
          </a:p>
          <a:p>
            <a:pPr marL="0" indent="0">
              <a:buNone/>
            </a:pPr>
            <a:r>
              <a:rPr lang="en-GB" altLang="en-US" sz="3430"/>
              <a:t>From ascending to descending order, the first product is </a:t>
            </a:r>
            <a:r>
              <a:rPr sz="3430" b="1" i="1">
                <a:solidFill>
                  <a:srgbClr val="000000"/>
                </a:solidFill>
                <a:latin typeface="Calibri" panose="020F0502020204030204"/>
                <a:ea typeface="Calibri" panose="020F0502020204030204"/>
                <a:sym typeface="+mn-ea"/>
              </a:rPr>
              <a:t>GBC DocuBind TL300 Electric Binding System</a:t>
            </a:r>
            <a:r>
              <a:rPr lang="en-GB" sz="3430">
                <a:solidFill>
                  <a:srgbClr val="000000"/>
                </a:solidFill>
                <a:latin typeface="Calibri" panose="020F0502020204030204"/>
                <a:ea typeface="Calibri" panose="020F0502020204030204"/>
                <a:sym typeface="+mn-ea"/>
              </a:rPr>
              <a:t> with a sum of </a:t>
            </a:r>
            <a:r>
              <a:rPr lang="en-GB" sz="3430" b="1" i="1">
                <a:solidFill>
                  <a:srgbClr val="000000"/>
                </a:solidFill>
                <a:latin typeface="Calibri" panose="020F0502020204030204"/>
                <a:ea typeface="Calibri" panose="020F0502020204030204"/>
                <a:sym typeface="+mn-ea"/>
              </a:rPr>
              <a:t>$19,823.48</a:t>
            </a:r>
            <a:r>
              <a:rPr lang="en-GB" sz="3430">
                <a:solidFill>
                  <a:srgbClr val="000000"/>
                </a:solidFill>
                <a:latin typeface="Calibri" panose="020F0502020204030204"/>
                <a:ea typeface="Calibri" panose="020F0502020204030204"/>
                <a:sym typeface="+mn-ea"/>
              </a:rPr>
              <a:t> in sales, this is the least of the five, followed by </a:t>
            </a:r>
            <a:r>
              <a:rPr lang="en-US" altLang="en-GB" sz="3430" b="1" i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HON 5400 Series Task Chairs for Big and Tall</a:t>
            </a:r>
            <a:r>
              <a:rPr lang="en-GB" altLang="en-US" sz="3430" b="1" i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 </a:t>
            </a:r>
            <a:r>
              <a:rPr lang="en-GB" altLang="en-US" sz="3430" b="0" i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with a sum of </a:t>
            </a:r>
            <a:r>
              <a:rPr lang="en-GB" altLang="en-US" sz="3430" b="1" i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$21,870.58 </a:t>
            </a:r>
            <a:r>
              <a:rPr lang="en-GB" altLang="en-US" sz="3430" b="0" i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in sales, followed by</a:t>
            </a:r>
            <a:r>
              <a:rPr lang="en-GB" altLang="en-US" sz="3430" b="1" i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 </a:t>
            </a:r>
            <a:r>
              <a:rPr lang="en-US" altLang="en-GB" sz="3430" b="1" i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Cisco TelePresence System EX90 Videoconferencing Unit</a:t>
            </a:r>
            <a:r>
              <a:rPr lang="en-GB" altLang="en-US" sz="3430" b="0" i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 with a sum of</a:t>
            </a:r>
            <a:r>
              <a:rPr lang="en-GB" altLang="en-US" sz="3430" b="1" i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 $22,638.48</a:t>
            </a:r>
            <a:r>
              <a:rPr lang="en-GB" altLang="en-US" sz="3430" b="0" i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 in sales, with</a:t>
            </a:r>
            <a:r>
              <a:rPr lang="en-GB" altLang="en-US" sz="3430" b="1" i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 </a:t>
            </a:r>
            <a:r>
              <a:rPr lang="en-US" altLang="en-GB" sz="3430" b="1" i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Fellowes PB500 Electric Punch Plastic Comb Binding Machine with Manual Bind</a:t>
            </a:r>
            <a:r>
              <a:rPr lang="en-GB" altLang="en-US" sz="3430" b="0" i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 taken second position with a sum of</a:t>
            </a:r>
            <a:r>
              <a:rPr lang="en-GB" altLang="en-US" sz="3430" b="1" i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 $27,453.38</a:t>
            </a:r>
            <a:r>
              <a:rPr lang="en-GB" altLang="en-US" sz="3430" b="0" i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 in sales, and lastly with the product with the highest sales is</a:t>
            </a:r>
            <a:r>
              <a:rPr lang="en-GB" altLang="en-US" sz="3430" b="1" i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 </a:t>
            </a:r>
            <a:r>
              <a:rPr lang="en-US" altLang="en-GB" sz="3430" b="1" i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Canon imageCLASS 2200 Advanced Copier</a:t>
            </a:r>
            <a:r>
              <a:rPr lang="en-GB" altLang="en-US" sz="3430" b="0" i="0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, with a wooping sum of  </a:t>
            </a:r>
            <a:r>
              <a:rPr lang="en-GB" altLang="en-US" sz="3430" b="1" i="1">
                <a:solidFill>
                  <a:srgbClr val="000000"/>
                </a:solidFill>
                <a:latin typeface="Calibri" panose="020F0502020204030204"/>
                <a:ea typeface="Calibri" panose="020F0502020204030204"/>
              </a:rPr>
              <a:t>$61,599.82</a:t>
            </a:r>
            <a:endParaRPr lang="en-GB" altLang="en-US" b="1" i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/>
              <a:t>ANALYSIS 3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GB" altLang="en-US"/>
              <a:t>OBJECTIVE </a:t>
            </a:r>
            <a:endParaRPr lang="en-GB" altLang="en-US"/>
          </a:p>
          <a:p>
            <a:pPr marL="0" indent="0">
              <a:buNone/>
            </a:pPr>
            <a:r>
              <a:rPr lang="en-GB" altLang="en-US"/>
              <a:t>Montly Sales Trend </a:t>
            </a:r>
            <a:endParaRPr lang="en-GB" altLang="en-US"/>
          </a:p>
          <a:p>
            <a:pPr marL="0" indent="0">
              <a:buNone/>
            </a:pPr>
            <a:endParaRPr lang="en-GB" altLang="en-US"/>
          </a:p>
          <a:p>
            <a:pPr marL="0" indent="0">
              <a:buNone/>
            </a:pPr>
            <a:r>
              <a:rPr lang="en-GB" altLang="en-US"/>
              <a:t>ANSWER</a:t>
            </a:r>
            <a:endParaRPr lang="en-GB" altLang="en-US"/>
          </a:p>
          <a:p>
            <a:pPr marL="0" indent="0">
              <a:buNone/>
            </a:pPr>
            <a:r>
              <a:rPr lang="en-GB" altLang="en-US"/>
              <a:t>In the Year 2014-2017 it has been observed that the months: September, November and December always had the top 3 highest sales.</a:t>
            </a:r>
            <a:endParaRPr lang="en-GB" altLang="en-US"/>
          </a:p>
          <a:p>
            <a:pPr marL="0" indent="0">
              <a:buNone/>
            </a:pPr>
            <a:endParaRPr lang="en-GB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125" y="88265"/>
            <a:ext cx="10515600" cy="814705"/>
          </a:xfrm>
        </p:spPr>
        <p:txBody>
          <a:bodyPr/>
          <a:p>
            <a:r>
              <a:rPr lang="en-GB" altLang="en-US"/>
              <a:t>VISUAL</a:t>
            </a:r>
            <a:endParaRPr lang="en-GB" altLang="en-US"/>
          </a:p>
        </p:txBody>
      </p:sp>
      <p:pic>
        <p:nvPicPr>
          <p:cNvPr id="4" name="Content Placeholder 3" descr="BI 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1125" y="902335"/>
            <a:ext cx="11857355" cy="57753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49855"/>
            <a:ext cx="10515600" cy="1325563"/>
          </a:xfrm>
        </p:spPr>
        <p:txBody>
          <a:bodyPr/>
          <a:p>
            <a:r>
              <a:rPr lang="en-GB" altLang="en-US"/>
              <a:t>THANK YOU</a:t>
            </a:r>
            <a:endParaRPr lang="en-GB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1287</Words>
  <Application>WPS Presentation</Application>
  <PresentationFormat>Widescreen</PresentationFormat>
  <Paragraphs>38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Engr. Seyi Karunwi</dc:creator>
  <cp:lastModifiedBy>Engr. Seyi Karunwi</cp:lastModifiedBy>
  <cp:revision>5</cp:revision>
  <dcterms:created xsi:type="dcterms:W3CDTF">2025-07-23T00:59:00Z</dcterms:created>
  <dcterms:modified xsi:type="dcterms:W3CDTF">2026-03-26T22:36:12Z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9BCD38D5A987475181421D43AB3D55D5_11</vt:lpwstr>
  </property>
  <property fmtid="{D5CDD505-2E9C-101B-9397-08002B2CF9AE}" pid="3" name="KSOProductBuildVer">
    <vt:lpwstr>2057-12.2.0.23196</vt:lpwstr>
  </property>
</Properties>
</file>